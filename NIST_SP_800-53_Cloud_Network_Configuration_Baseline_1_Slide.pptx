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ptos Display"/>
              </a:defRPr>
            </a:pPr>
            <a:r>
              <a:t>NIST SP 800-53 Rev. 5 — Cloud &amp; Network Security Configuration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Aptos"/>
              </a:defRPr>
            </a:pPr>
            <a:r>
              <a:t>20 Control Families mapped by configuration relevance to Cloud and Network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41080" y="210312"/>
            <a:ext cx="960120" cy="47548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1F1F"/>
                </a:solidFill>
                <a:latin typeface="Aptos"/>
              </a:rPr>
              <a:t>Families: </a:t>
            </a:r>
            <a:r>
              <a:rPr sz="1100" b="1">
                <a:solidFill>
                  <a:srgbClr val="1F4E79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4352" y="210312"/>
            <a:ext cx="1005840" cy="475488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1F1F"/>
                </a:solidFill>
                <a:latin typeface="Aptos"/>
              </a:rPr>
              <a:t>Core: </a:t>
            </a:r>
            <a:r>
              <a:rPr sz="1100" b="1">
                <a:solidFill>
                  <a:srgbClr val="1F4E79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53344" y="210312"/>
            <a:ext cx="1005840" cy="475488"/>
          </a:xfrm>
          <a:prstGeom prst="roundRect">
            <a:avLst/>
          </a:prstGeom>
          <a:solidFill>
            <a:srgbClr val="FCE5CD"/>
          </a:solidFill>
          <a:ln>
            <a:solidFill>
              <a:srgbClr val="FCE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1F1F"/>
                </a:solidFill>
                <a:latin typeface="Aptos"/>
              </a:rPr>
              <a:t>Support: </a:t>
            </a:r>
            <a:r>
              <a:rPr sz="1100" b="1">
                <a:solidFill>
                  <a:srgbClr val="1F4E79"/>
                </a:solidFill>
                <a:latin typeface="Apto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411966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446" y="1143000"/>
            <a:ext cx="2452180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Control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5627" y="1143000"/>
            <a:ext cx="804315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9942" y="1143000"/>
            <a:ext cx="931828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1771" y="1143000"/>
            <a:ext cx="931828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Relevance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90472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446" y="1490472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Access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5627" y="1490472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9942" y="1490472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1771" y="1490472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47088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446" y="1847088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Awareness and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5627" y="1847088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79942" y="1847088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1771" y="1847088"/>
            <a:ext cx="931828" cy="356616"/>
          </a:xfrm>
          <a:prstGeom prst="rect">
            <a:avLst/>
          </a:prstGeom>
          <a:solidFill>
            <a:srgbClr val="D9EAD3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203704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446" y="2203704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Audit and Accountability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5627" y="2203704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79942" y="2203704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1771" y="2203704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560320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446" y="2560320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Assessment, Authorization and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5627" y="2560320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79942" y="2560320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1771" y="2560320"/>
            <a:ext cx="931828" cy="356616"/>
          </a:xfrm>
          <a:prstGeom prst="rect">
            <a:avLst/>
          </a:prstGeom>
          <a:solidFill>
            <a:srgbClr val="FCE5CD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16936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CM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446" y="2916936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Configuration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5627" y="2916936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79942" y="2916936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11771" y="2916936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273552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CP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3446" y="3273552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Contingency Planning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75627" y="3273552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79942" y="3273552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1771" y="3273552"/>
            <a:ext cx="931828" cy="356616"/>
          </a:xfrm>
          <a:prstGeom prst="rect">
            <a:avLst/>
          </a:prstGeom>
          <a:solidFill>
            <a:srgbClr val="FCE5CD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30168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3446" y="3630168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Identification and Authentication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5627" y="3630168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79942" y="3630168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11771" y="3630168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86783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3446" y="3986783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Incident Response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5627" y="3986783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79942" y="3986783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1771" y="3986783"/>
            <a:ext cx="931828" cy="356616"/>
          </a:xfrm>
          <a:prstGeom prst="rect">
            <a:avLst/>
          </a:prstGeom>
          <a:solidFill>
            <a:srgbClr val="FFF2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343400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MA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3446" y="4343400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Maintenance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75627" y="4343400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79942" y="4343400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1771" y="4343400"/>
            <a:ext cx="931828" cy="356616"/>
          </a:xfrm>
          <a:prstGeom prst="rect">
            <a:avLst/>
          </a:prstGeom>
          <a:solidFill>
            <a:srgbClr val="E2F0D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Low-Medium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700016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MP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3446" y="4700016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Media Protection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75627" y="4700016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79942" y="4700016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11771" y="4700016"/>
            <a:ext cx="931828" cy="356616"/>
          </a:xfrm>
          <a:prstGeom prst="rect">
            <a:avLst/>
          </a:prstGeom>
          <a:solidFill>
            <a:srgbClr val="E2F0D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Low-Medium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1143000"/>
            <a:ext cx="411966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4166" y="1143000"/>
            <a:ext cx="2452180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Control Family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6347" y="1143000"/>
            <a:ext cx="804315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40662" y="1143000"/>
            <a:ext cx="931828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Network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72491" y="1143000"/>
            <a:ext cx="931828" cy="347472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Relevance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1490472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PE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4166" y="1490472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Physical and Environmental Protection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36347" y="1490472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40662" y="1490472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72491" y="1490472"/>
            <a:ext cx="931828" cy="356616"/>
          </a:xfrm>
          <a:prstGeom prst="rect">
            <a:avLst/>
          </a:prstGeom>
          <a:solidFill>
            <a:srgbClr val="D9EAD3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1847088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PL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4166" y="1847088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Planning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6347" y="1847088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40662" y="1847088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72491" y="1847088"/>
            <a:ext cx="931828" cy="356616"/>
          </a:xfrm>
          <a:prstGeom prst="rect">
            <a:avLst/>
          </a:prstGeom>
          <a:solidFill>
            <a:srgbClr val="FFF2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2203704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PM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4166" y="2203704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Program Management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36347" y="2203704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40662" y="2203704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772491" y="2203704"/>
            <a:ext cx="931828" cy="356616"/>
          </a:xfrm>
          <a:prstGeom prst="rect">
            <a:avLst/>
          </a:prstGeom>
          <a:solidFill>
            <a:srgbClr val="D9EAD3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2560320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PS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4166" y="2560320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Personnel Security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6347" y="2560320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40662" y="2560320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72491" y="2560320"/>
            <a:ext cx="931828" cy="356616"/>
          </a:xfrm>
          <a:prstGeom prst="rect">
            <a:avLst/>
          </a:prstGeom>
          <a:solidFill>
            <a:srgbClr val="D9EAD3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2916936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PT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4166" y="2916936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PII Processing and Transparency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36347" y="2916936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40662" y="2916936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Low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72491" y="2916936"/>
            <a:ext cx="931828" cy="356616"/>
          </a:xfrm>
          <a:prstGeom prst="rect">
            <a:avLst/>
          </a:prstGeom>
          <a:solidFill>
            <a:srgbClr val="E2F0D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Low-Medium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72200" y="3273552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4166" y="3273552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Risk Assessment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36347" y="3273552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840662" y="3273552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772491" y="3273552"/>
            <a:ext cx="931828" cy="356616"/>
          </a:xfrm>
          <a:prstGeom prst="rect">
            <a:avLst/>
          </a:prstGeom>
          <a:solidFill>
            <a:srgbClr val="FCE5CD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72200" y="3630168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84166" y="3630168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System and Services Acquisition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36347" y="3630168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40662" y="3630168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772491" y="3630168"/>
            <a:ext cx="931828" cy="356616"/>
          </a:xfrm>
          <a:prstGeom prst="rect">
            <a:avLst/>
          </a:prstGeom>
          <a:solidFill>
            <a:srgbClr val="FCE5CD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3986783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SC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4166" y="3986783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System and Communications Protection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36347" y="3986783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840662" y="3986783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72491" y="3986783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72200" y="4343400"/>
            <a:ext cx="411966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SI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84166" y="4343400"/>
            <a:ext cx="24521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System and Information Integrity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36347" y="4343400"/>
            <a:ext cx="804315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40662" y="4343400"/>
            <a:ext cx="931828" cy="356616"/>
          </a:xfrm>
          <a:prstGeom prst="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772491" y="4343400"/>
            <a:ext cx="931828" cy="356616"/>
          </a:xfrm>
          <a:prstGeom prst="rect">
            <a:avLst/>
          </a:prstGeom>
          <a:solidFill>
            <a:srgbClr val="F4CCCC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Very High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72200" y="4700016"/>
            <a:ext cx="411966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SR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84166" y="4700016"/>
            <a:ext cx="2452180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60" b="0">
                <a:solidFill>
                  <a:srgbClr val="1F1F1F"/>
                </a:solidFill>
                <a:latin typeface="Aptos"/>
              </a:rPr>
              <a:t>Supply Chain Risk Management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36347" y="4700016"/>
            <a:ext cx="804315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840662" y="4700016"/>
            <a:ext cx="931828" cy="356616"/>
          </a:xfrm>
          <a:prstGeom prst="rect">
            <a:avLst/>
          </a:prstGeom>
          <a:solidFill>
            <a:srgbClr val="F5F7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0">
                <a:solidFill>
                  <a:srgbClr val="1F1F1F"/>
                </a:solidFill>
                <a:latin typeface="Aptos"/>
              </a:rPr>
              <a:t>Medium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772491" y="4700016"/>
            <a:ext cx="931828" cy="356616"/>
          </a:xfrm>
          <a:prstGeom prst="rect">
            <a:avLst/>
          </a:prstGeom>
          <a:solidFill>
            <a:srgbClr val="FCE5CD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1F1F1F"/>
                </a:solidFill>
                <a:latin typeface="Aptos"/>
              </a:rPr>
              <a:t>High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5184648"/>
            <a:ext cx="11292840" cy="1353312"/>
          </a:xfrm>
          <a:prstGeom prst="roundRect">
            <a:avLst/>
          </a:prstGeom>
          <a:solidFill>
            <a:srgbClr val="ECF3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Key takeaway</a:t>
            </a:r>
          </a:p>
          <a:p>
            <a:pPr>
              <a:spcAft>
                <a:spcPts val="200"/>
              </a:spcAft>
              <a:defRPr sz="950">
                <a:solidFill>
                  <a:srgbClr val="1F1F1F"/>
                </a:solidFill>
                <a:latin typeface="Aptos"/>
              </a:defRPr>
            </a:pPr>
            <a:r>
              <a:t>• Core configuration baseline: AC, AU, CM, IA, SC, SI — directly supports access, logging, secure settings, authentication, communications protection, and integrity.</a:t>
            </a:r>
          </a:p>
          <a:p>
            <a:pPr>
              <a:spcAft>
                <a:spcPts val="200"/>
              </a:spcAft>
              <a:defRPr sz="950">
                <a:solidFill>
                  <a:srgbClr val="1F1F1F"/>
                </a:solidFill>
                <a:latin typeface="Aptos"/>
              </a:defRPr>
            </a:pPr>
            <a:r>
              <a:t>• Cloud adds broader supporting concerns such as contingency planning, assessment/monitoring, risk, acquisition, and supply-chain management.</a:t>
            </a:r>
          </a:p>
          <a:p>
            <a:pPr>
              <a:spcAft>
                <a:spcPts val="200"/>
              </a:spcAft>
              <a:defRPr sz="950">
                <a:solidFill>
                  <a:srgbClr val="1F1F1F"/>
                </a:solidFill>
                <a:latin typeface="Aptos"/>
              </a:defRPr>
            </a:pPr>
            <a:r>
              <a:t>• Network configuration focuses most directly on access control, audit/logging, configuration management, authentication, communications protection, and system integrity.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8912" y="656539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6464"/>
                </a:solidFill>
                <a:latin typeface="Aptos"/>
              </a:defRPr>
            </a:pPr>
            <a:r>
              <a:t>Note: Relevance is a practical mapping for configuration-baseline scoping, not an official NIST priority/ranking.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
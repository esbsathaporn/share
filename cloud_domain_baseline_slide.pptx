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44173"/>
                </a:solidFill>
                <a:latin typeface="Aptos"/>
              </a:rPr>
              <a:t>Cloud Configuration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47382"/>
                </a:solidFill>
                <a:latin typeface="Aptos"/>
              </a:rPr>
              <a:t>Cloud Domains by Provider</a:t>
            </a:r>
          </a:p>
        </p:txBody>
      </p:sp>
      <p:sp>
        <p:nvSpPr>
          <p:cNvPr id="4" name="Folded Corner 3"/>
          <p:cNvSpPr/>
          <p:nvPr/>
        </p:nvSpPr>
        <p:spPr>
          <a:xfrm>
            <a:off x="411480" y="2834640"/>
            <a:ext cx="438912" cy="530352"/>
          </a:xfrm>
          <a:prstGeom prst="foldedCorner">
            <a:avLst/>
          </a:prstGeom>
          <a:solidFill>
            <a:srgbClr val="FFFFFF"/>
          </a:solidFill>
          <a:ln w="1905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3776" y="2971800"/>
            <a:ext cx="256032" cy="0"/>
          </a:xfrm>
          <a:prstGeom prst="line">
            <a:avLst/>
          </a:prstGeom>
          <a:ln w="1397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93776" y="3072384"/>
            <a:ext cx="256032" cy="0"/>
          </a:xfrm>
          <a:prstGeom prst="line">
            <a:avLst/>
          </a:prstGeom>
          <a:ln w="1397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93776" y="3172968"/>
            <a:ext cx="256032" cy="0"/>
          </a:xfrm>
          <a:prstGeom prst="line">
            <a:avLst/>
          </a:prstGeom>
          <a:ln w="1397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93776" y="3273552"/>
            <a:ext cx="256032" cy="0"/>
          </a:xfrm>
          <a:prstGeom prst="line">
            <a:avLst/>
          </a:prstGeom>
          <a:ln w="1397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" y="3438144"/>
            <a:ext cx="1143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846"/>
                </a:solidFill>
                <a:latin typeface="Aptos"/>
              </a:rPr>
              <a:t>Document
Baseline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0392" y="3090672"/>
            <a:ext cx="246888" cy="0"/>
          </a:xfrm>
          <a:prstGeom prst="line">
            <a:avLst/>
          </a:prstGeom>
          <a:ln w="13970">
            <a:solidFill>
              <a:srgbClr val="1E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97280" y="1920240"/>
            <a:ext cx="256032" cy="1170432"/>
          </a:xfrm>
          <a:prstGeom prst="line">
            <a:avLst/>
          </a:prstGeom>
          <a:ln w="13970">
            <a:solidFill>
              <a:srgbClr val="1E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53312" y="1920240"/>
            <a:ext cx="246888" cy="0"/>
          </a:xfrm>
          <a:prstGeom prst="line">
            <a:avLst/>
          </a:prstGeom>
          <a:ln w="13970">
            <a:solidFill>
              <a:srgbClr val="1E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1536192" y="1869948"/>
            <a:ext cx="109728" cy="100584"/>
          </a:xfrm>
          <a:prstGeom prst="triangle">
            <a:avLst/>
          </a:prstGeom>
          <a:solidFill>
            <a:srgbClr val="1E232A"/>
          </a:solidFill>
          <a:ln>
            <a:solidFill>
              <a:srgbClr val="1E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097280" y="3090672"/>
            <a:ext cx="502920" cy="365760"/>
          </a:xfrm>
          <a:prstGeom prst="line">
            <a:avLst/>
          </a:prstGeom>
          <a:ln w="13970">
            <a:solidFill>
              <a:srgbClr val="1E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1536192" y="3406139"/>
            <a:ext cx="109728" cy="100584"/>
          </a:xfrm>
          <a:prstGeom prst="triangle">
            <a:avLst/>
          </a:prstGeom>
          <a:solidFill>
            <a:srgbClr val="1E232A"/>
          </a:solidFill>
          <a:ln>
            <a:solidFill>
              <a:srgbClr val="1E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097280" y="3090672"/>
            <a:ext cx="256032" cy="1847088"/>
          </a:xfrm>
          <a:prstGeom prst="line">
            <a:avLst/>
          </a:prstGeom>
          <a:ln w="13970">
            <a:solidFill>
              <a:srgbClr val="1E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53312" y="4937760"/>
            <a:ext cx="246888" cy="0"/>
          </a:xfrm>
          <a:prstGeom prst="line">
            <a:avLst/>
          </a:prstGeom>
          <a:ln w="13970">
            <a:solidFill>
              <a:srgbClr val="1E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1536192" y="4887468"/>
            <a:ext cx="109728" cy="100584"/>
          </a:xfrm>
          <a:prstGeom prst="triangle">
            <a:avLst/>
          </a:prstGeom>
          <a:solidFill>
            <a:srgbClr val="1E232A"/>
          </a:solidFill>
          <a:ln>
            <a:solidFill>
              <a:srgbClr val="1E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600200" y="1234440"/>
            <a:ext cx="6492240" cy="1417320"/>
          </a:xfrm>
          <a:prstGeom prst="roundRect">
            <a:avLst/>
          </a:prstGeom>
          <a:solidFill>
            <a:srgbClr val="DEEFFD"/>
          </a:solidFill>
          <a:ln>
            <a:solidFill>
              <a:srgbClr val="DE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83080" y="1307592"/>
            <a:ext cx="914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42846"/>
                </a:solidFill>
                <a:latin typeface="Aptos"/>
              </a:rPr>
              <a:t>AWS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90241" y="1768449"/>
            <a:ext cx="248716" cy="248716"/>
          </a:xfrm>
          <a:prstGeom prst="rect">
            <a:avLst/>
          </a:prstGeom>
          <a:noFill/>
          <a:ln w="2159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2331720" y="1812340"/>
            <a:ext cx="58521" cy="0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638958" y="1812340"/>
            <a:ext cx="58522" cy="0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34132" y="1709928"/>
            <a:ext cx="0" cy="58521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34132" y="2017166"/>
            <a:ext cx="0" cy="58522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331720" y="1892808"/>
            <a:ext cx="58521" cy="0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38958" y="1892808"/>
            <a:ext cx="58522" cy="0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514600" y="1709928"/>
            <a:ext cx="0" cy="58521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514600" y="2017166"/>
            <a:ext cx="0" cy="58522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331720" y="1973275"/>
            <a:ext cx="58521" cy="0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638958" y="1973275"/>
            <a:ext cx="58522" cy="0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595067" y="1709928"/>
            <a:ext cx="0" cy="58521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595067" y="2017166"/>
            <a:ext cx="0" cy="58522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039112" y="2221992"/>
            <a:ext cx="9509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846"/>
                </a:solidFill>
                <a:latin typeface="Aptos"/>
              </a:rPr>
              <a:t>Compute</a:t>
            </a:r>
          </a:p>
        </p:txBody>
      </p:sp>
      <p:sp>
        <p:nvSpPr>
          <p:cNvPr id="35" name="Oval 34"/>
          <p:cNvSpPr/>
          <p:nvPr/>
        </p:nvSpPr>
        <p:spPr>
          <a:xfrm>
            <a:off x="3542385" y="1761134"/>
            <a:ext cx="321868" cy="117043"/>
          </a:xfrm>
          <a:prstGeom prst="ellipse">
            <a:avLst/>
          </a:prstGeom>
          <a:noFill/>
          <a:ln w="2159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3542385" y="1819656"/>
            <a:ext cx="29261" cy="219456"/>
          </a:xfrm>
          <a:prstGeom prst="line">
            <a:avLst/>
          </a:prstGeom>
          <a:ln w="1905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3834993" y="1819656"/>
            <a:ext cx="29261" cy="219456"/>
          </a:xfrm>
          <a:prstGeom prst="line">
            <a:avLst/>
          </a:prstGeom>
          <a:ln w="1905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Arc 37"/>
          <p:cNvSpPr/>
          <p:nvPr/>
        </p:nvSpPr>
        <p:spPr>
          <a:xfrm>
            <a:off x="3557015" y="1951329"/>
            <a:ext cx="292608" cy="160934"/>
          </a:xfrm>
          <a:prstGeom prst="arc">
            <a:avLst/>
          </a:prstGeom>
          <a:noFill/>
          <a:ln w="2159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27832" y="2221992"/>
            <a:ext cx="9509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846"/>
                </a:solidFill>
                <a:latin typeface="Aptos"/>
              </a:rPr>
              <a:t>Storage</a:t>
            </a:r>
          </a:p>
        </p:txBody>
      </p:sp>
      <p:sp>
        <p:nvSpPr>
          <p:cNvPr id="40" name="Oval 39"/>
          <p:cNvSpPr/>
          <p:nvPr/>
        </p:nvSpPr>
        <p:spPr>
          <a:xfrm>
            <a:off x="4745736" y="1746504"/>
            <a:ext cx="292608" cy="102412"/>
          </a:xfrm>
          <a:prstGeom prst="ellipse">
            <a:avLst/>
          </a:prstGeom>
          <a:solidFill>
            <a:srgbClr val="EBF6FF"/>
          </a:solidFill>
          <a:ln w="1905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745736" y="1841601"/>
            <a:ext cx="292608" cy="102412"/>
          </a:xfrm>
          <a:prstGeom prst="ellipse">
            <a:avLst/>
          </a:prstGeom>
          <a:solidFill>
            <a:srgbClr val="EBF6FF"/>
          </a:solidFill>
          <a:ln w="1905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745736" y="1936699"/>
            <a:ext cx="292608" cy="102412"/>
          </a:xfrm>
          <a:prstGeom prst="ellipse">
            <a:avLst/>
          </a:prstGeom>
          <a:solidFill>
            <a:srgbClr val="EBF6FF"/>
          </a:solidFill>
          <a:ln w="1905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4745736" y="1848916"/>
            <a:ext cx="0" cy="175565"/>
          </a:xfrm>
          <a:prstGeom prst="line">
            <a:avLst/>
          </a:prstGeom>
          <a:ln w="1905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038344" y="1848916"/>
            <a:ext cx="0" cy="175565"/>
          </a:xfrm>
          <a:prstGeom prst="line">
            <a:avLst/>
          </a:prstGeom>
          <a:ln w="1905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416552" y="2221992"/>
            <a:ext cx="9509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846"/>
                </a:solidFill>
                <a:latin typeface="Aptos"/>
              </a:rPr>
              <a:t>Database</a:t>
            </a:r>
          </a:p>
        </p:txBody>
      </p:sp>
      <p:sp>
        <p:nvSpPr>
          <p:cNvPr id="46" name="Cloud 45"/>
          <p:cNvSpPr/>
          <p:nvPr/>
        </p:nvSpPr>
        <p:spPr>
          <a:xfrm>
            <a:off x="5890564" y="1746504"/>
            <a:ext cx="380390" cy="234086"/>
          </a:xfrm>
          <a:prstGeom prst="cloud">
            <a:avLst/>
          </a:prstGeom>
          <a:noFill/>
          <a:ln w="2159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6080760" y="1980590"/>
            <a:ext cx="0" cy="80467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5956401" y="2031796"/>
            <a:ext cx="124359" cy="43892"/>
          </a:xfrm>
          <a:prstGeom prst="line">
            <a:avLst/>
          </a:prstGeom>
          <a:ln w="1524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5930798" y="2053742"/>
            <a:ext cx="51206" cy="5120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6080760" y="2031796"/>
            <a:ext cx="0" cy="43892"/>
          </a:xfrm>
          <a:prstGeom prst="line">
            <a:avLst/>
          </a:prstGeom>
          <a:ln w="1524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6055156" y="2053742"/>
            <a:ext cx="51206" cy="5120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6080760" y="2031796"/>
            <a:ext cx="124358" cy="43892"/>
          </a:xfrm>
          <a:prstGeom prst="line">
            <a:avLst/>
          </a:prstGeom>
          <a:ln w="1524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6179515" y="2053742"/>
            <a:ext cx="51206" cy="5120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05272" y="2221992"/>
            <a:ext cx="9509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846"/>
                </a:solidFill>
                <a:latin typeface="Aptos"/>
              </a:rPr>
              <a:t>Network</a:t>
            </a:r>
          </a:p>
        </p:txBody>
      </p:sp>
      <p:sp>
        <p:nvSpPr>
          <p:cNvPr id="55" name="Oval 54"/>
          <p:cNvSpPr/>
          <p:nvPr/>
        </p:nvSpPr>
        <p:spPr>
          <a:xfrm>
            <a:off x="7196328" y="1746504"/>
            <a:ext cx="146304" cy="146304"/>
          </a:xfrm>
          <a:prstGeom prst="ellipse">
            <a:avLst/>
          </a:prstGeom>
          <a:noFill/>
          <a:ln w="2159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Arc 55"/>
          <p:cNvSpPr/>
          <p:nvPr/>
        </p:nvSpPr>
        <p:spPr>
          <a:xfrm>
            <a:off x="7123176" y="1878177"/>
            <a:ext cx="292608" cy="219456"/>
          </a:xfrm>
          <a:prstGeom prst="arc">
            <a:avLst/>
          </a:prstGeom>
          <a:noFill/>
          <a:ln w="2159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Pentagon 56"/>
          <p:cNvSpPr/>
          <p:nvPr/>
        </p:nvSpPr>
        <p:spPr>
          <a:xfrm rot="10800000">
            <a:off x="7335316" y="1900123"/>
            <a:ext cx="160934" cy="182880"/>
          </a:xfrm>
          <a:prstGeom prst="homePlate">
            <a:avLst/>
          </a:prstGeom>
          <a:solidFill>
            <a:srgbClr val="EBF6FF"/>
          </a:solidFill>
          <a:ln w="1778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93992" y="2221992"/>
            <a:ext cx="9509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846"/>
                </a:solidFill>
                <a:latin typeface="Aptos"/>
              </a:rPr>
              <a:t>IAM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092440" y="1943100"/>
            <a:ext cx="457200" cy="0"/>
          </a:xfrm>
          <a:prstGeom prst="line">
            <a:avLst/>
          </a:prstGeom>
          <a:ln w="16510">
            <a:solidFill>
              <a:srgbClr val="1E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Isosceles Triangle 59"/>
          <p:cNvSpPr/>
          <p:nvPr/>
        </p:nvSpPr>
        <p:spPr>
          <a:xfrm rot="5400000">
            <a:off x="8485632" y="1892807"/>
            <a:ext cx="109728" cy="100584"/>
          </a:xfrm>
          <a:prstGeom prst="triangle">
            <a:avLst/>
          </a:prstGeom>
          <a:solidFill>
            <a:srgbClr val="1E232A"/>
          </a:solidFill>
          <a:ln>
            <a:solidFill>
              <a:srgbClr val="1E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796528" y="1581912"/>
            <a:ext cx="438912" cy="530352"/>
          </a:xfrm>
          <a:prstGeom prst="roundRect">
            <a:avLst/>
          </a:prstGeom>
          <a:noFill/>
          <a:ln w="2032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8897111" y="1719072"/>
            <a:ext cx="54865" cy="36576"/>
          </a:xfrm>
          <a:prstGeom prst="line">
            <a:avLst/>
          </a:prstGeom>
          <a:ln w="1397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8951976" y="1682495"/>
            <a:ext cx="54864" cy="73153"/>
          </a:xfrm>
          <a:prstGeom prst="line">
            <a:avLst/>
          </a:prstGeom>
          <a:ln w="1397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043415" y="1719072"/>
            <a:ext cx="109729" cy="0"/>
          </a:xfrm>
          <a:prstGeom prst="line">
            <a:avLst/>
          </a:prstGeom>
          <a:ln w="1397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897111" y="1847088"/>
            <a:ext cx="54865" cy="36576"/>
          </a:xfrm>
          <a:prstGeom prst="line">
            <a:avLst/>
          </a:prstGeom>
          <a:ln w="1397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8951976" y="1810512"/>
            <a:ext cx="54864" cy="73152"/>
          </a:xfrm>
          <a:prstGeom prst="line">
            <a:avLst/>
          </a:prstGeom>
          <a:ln w="1397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043415" y="1847088"/>
            <a:ext cx="109729" cy="0"/>
          </a:xfrm>
          <a:prstGeom prst="line">
            <a:avLst/>
          </a:prstGeom>
          <a:ln w="1397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897111" y="1975104"/>
            <a:ext cx="54865" cy="36576"/>
          </a:xfrm>
          <a:prstGeom prst="line">
            <a:avLst/>
          </a:prstGeom>
          <a:ln w="1397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8951976" y="1938528"/>
            <a:ext cx="54864" cy="73152"/>
          </a:xfrm>
          <a:prstGeom prst="line">
            <a:avLst/>
          </a:prstGeom>
          <a:ln w="1397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043415" y="1975104"/>
            <a:ext cx="109729" cy="0"/>
          </a:xfrm>
          <a:prstGeom prst="line">
            <a:avLst/>
          </a:prstGeom>
          <a:ln w="1397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9326880" y="1563624"/>
            <a:ext cx="2057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846"/>
                </a:solidFill>
                <a:latin typeface="Aptos"/>
              </a:rPr>
              <a:t>Document Checklist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26880" y="1892808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42846"/>
                </a:solidFill>
                <a:latin typeface="Aptos"/>
              </a:rPr>
              <a:t>16 Doc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600200" y="2743200"/>
            <a:ext cx="6492240" cy="1417320"/>
          </a:xfrm>
          <a:prstGeom prst="roundRect">
            <a:avLst/>
          </a:prstGeom>
          <a:solidFill>
            <a:srgbClr val="DEEFFD"/>
          </a:solidFill>
          <a:ln>
            <a:solidFill>
              <a:srgbClr val="DE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783080" y="2816352"/>
            <a:ext cx="914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42846"/>
                </a:solidFill>
                <a:latin typeface="Aptos"/>
              </a:rPr>
              <a:t>HWC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390241" y="3277209"/>
            <a:ext cx="248716" cy="248716"/>
          </a:xfrm>
          <a:prstGeom prst="rect">
            <a:avLst/>
          </a:prstGeom>
          <a:noFill/>
          <a:ln w="2159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2331720" y="3321100"/>
            <a:ext cx="58521" cy="0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638958" y="3321100"/>
            <a:ext cx="58522" cy="0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434132" y="3218687"/>
            <a:ext cx="0" cy="58522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434132" y="3525926"/>
            <a:ext cx="0" cy="58522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331720" y="3401568"/>
            <a:ext cx="58521" cy="0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638958" y="3401568"/>
            <a:ext cx="58522" cy="0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514600" y="3218687"/>
            <a:ext cx="0" cy="58522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514600" y="3525926"/>
            <a:ext cx="0" cy="58522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331720" y="3482035"/>
            <a:ext cx="58521" cy="0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638958" y="3482035"/>
            <a:ext cx="58522" cy="0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595067" y="3218687"/>
            <a:ext cx="0" cy="58522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595067" y="3525926"/>
            <a:ext cx="0" cy="58522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2039112" y="3730752"/>
            <a:ext cx="9509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846"/>
                </a:solidFill>
                <a:latin typeface="Aptos"/>
              </a:rPr>
              <a:t>Compute</a:t>
            </a:r>
          </a:p>
        </p:txBody>
      </p:sp>
      <p:sp>
        <p:nvSpPr>
          <p:cNvPr id="89" name="Oval 88"/>
          <p:cNvSpPr/>
          <p:nvPr/>
        </p:nvSpPr>
        <p:spPr>
          <a:xfrm>
            <a:off x="3542385" y="3269894"/>
            <a:ext cx="321868" cy="117043"/>
          </a:xfrm>
          <a:prstGeom prst="ellipse">
            <a:avLst/>
          </a:prstGeom>
          <a:noFill/>
          <a:ln w="2159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3542385" y="3328415"/>
            <a:ext cx="29261" cy="219457"/>
          </a:xfrm>
          <a:prstGeom prst="line">
            <a:avLst/>
          </a:prstGeom>
          <a:ln w="1905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>
            <a:off x="3834993" y="3328415"/>
            <a:ext cx="29261" cy="219457"/>
          </a:xfrm>
          <a:prstGeom prst="line">
            <a:avLst/>
          </a:prstGeom>
          <a:ln w="1905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Arc 91"/>
          <p:cNvSpPr/>
          <p:nvPr/>
        </p:nvSpPr>
        <p:spPr>
          <a:xfrm>
            <a:off x="3557015" y="3460089"/>
            <a:ext cx="292608" cy="160934"/>
          </a:xfrm>
          <a:prstGeom prst="arc">
            <a:avLst/>
          </a:prstGeom>
          <a:noFill/>
          <a:ln w="2159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227832" y="3730752"/>
            <a:ext cx="9509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846"/>
                </a:solidFill>
                <a:latin typeface="Aptos"/>
              </a:rPr>
              <a:t>Storage</a:t>
            </a:r>
          </a:p>
        </p:txBody>
      </p:sp>
      <p:sp>
        <p:nvSpPr>
          <p:cNvPr id="94" name="Oval 93"/>
          <p:cNvSpPr/>
          <p:nvPr/>
        </p:nvSpPr>
        <p:spPr>
          <a:xfrm>
            <a:off x="4745736" y="3255263"/>
            <a:ext cx="292608" cy="102412"/>
          </a:xfrm>
          <a:prstGeom prst="ellipse">
            <a:avLst/>
          </a:prstGeom>
          <a:solidFill>
            <a:srgbClr val="EBF6FF"/>
          </a:solidFill>
          <a:ln w="1905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745736" y="3350361"/>
            <a:ext cx="292608" cy="102412"/>
          </a:xfrm>
          <a:prstGeom prst="ellipse">
            <a:avLst/>
          </a:prstGeom>
          <a:solidFill>
            <a:srgbClr val="EBF6FF"/>
          </a:solidFill>
          <a:ln w="1905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745736" y="3445459"/>
            <a:ext cx="292608" cy="102412"/>
          </a:xfrm>
          <a:prstGeom prst="ellipse">
            <a:avLst/>
          </a:prstGeom>
          <a:solidFill>
            <a:srgbClr val="EBF6FF"/>
          </a:solidFill>
          <a:ln w="1905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>
            <a:off x="4745736" y="3357676"/>
            <a:ext cx="0" cy="175565"/>
          </a:xfrm>
          <a:prstGeom prst="line">
            <a:avLst/>
          </a:prstGeom>
          <a:ln w="1905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5038344" y="3357676"/>
            <a:ext cx="0" cy="175565"/>
          </a:xfrm>
          <a:prstGeom prst="line">
            <a:avLst/>
          </a:prstGeom>
          <a:ln w="1905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4416552" y="3730752"/>
            <a:ext cx="9509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846"/>
                </a:solidFill>
                <a:latin typeface="Aptos"/>
              </a:rPr>
              <a:t>Database</a:t>
            </a:r>
          </a:p>
        </p:txBody>
      </p:sp>
      <p:sp>
        <p:nvSpPr>
          <p:cNvPr id="100" name="Cloud 99"/>
          <p:cNvSpPr/>
          <p:nvPr/>
        </p:nvSpPr>
        <p:spPr>
          <a:xfrm>
            <a:off x="5890564" y="3255263"/>
            <a:ext cx="380390" cy="234086"/>
          </a:xfrm>
          <a:prstGeom prst="cloud">
            <a:avLst/>
          </a:prstGeom>
          <a:noFill/>
          <a:ln w="2159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6080760" y="3489350"/>
            <a:ext cx="0" cy="80467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>
            <a:off x="5956401" y="3540556"/>
            <a:ext cx="124359" cy="43892"/>
          </a:xfrm>
          <a:prstGeom prst="line">
            <a:avLst/>
          </a:prstGeom>
          <a:ln w="1524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Oval 102"/>
          <p:cNvSpPr/>
          <p:nvPr/>
        </p:nvSpPr>
        <p:spPr>
          <a:xfrm>
            <a:off x="5930798" y="3562502"/>
            <a:ext cx="51206" cy="5120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6080760" y="3540556"/>
            <a:ext cx="0" cy="43892"/>
          </a:xfrm>
          <a:prstGeom prst="line">
            <a:avLst/>
          </a:prstGeom>
          <a:ln w="1524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6055156" y="3562502"/>
            <a:ext cx="51206" cy="5120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>
            <a:off x="6080760" y="3540556"/>
            <a:ext cx="124358" cy="43892"/>
          </a:xfrm>
          <a:prstGeom prst="line">
            <a:avLst/>
          </a:prstGeom>
          <a:ln w="1524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Oval 106"/>
          <p:cNvSpPr/>
          <p:nvPr/>
        </p:nvSpPr>
        <p:spPr>
          <a:xfrm>
            <a:off x="6179515" y="3562502"/>
            <a:ext cx="51206" cy="5120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605272" y="3730752"/>
            <a:ext cx="9509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846"/>
                </a:solidFill>
                <a:latin typeface="Aptos"/>
              </a:rPr>
              <a:t>Network</a:t>
            </a:r>
          </a:p>
        </p:txBody>
      </p:sp>
      <p:sp>
        <p:nvSpPr>
          <p:cNvPr id="109" name="Oval 108"/>
          <p:cNvSpPr/>
          <p:nvPr/>
        </p:nvSpPr>
        <p:spPr>
          <a:xfrm>
            <a:off x="7196328" y="3255263"/>
            <a:ext cx="146304" cy="146304"/>
          </a:xfrm>
          <a:prstGeom prst="ellipse">
            <a:avLst/>
          </a:prstGeom>
          <a:noFill/>
          <a:ln w="2159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Arc 109"/>
          <p:cNvSpPr/>
          <p:nvPr/>
        </p:nvSpPr>
        <p:spPr>
          <a:xfrm>
            <a:off x="7123176" y="3386937"/>
            <a:ext cx="292608" cy="219456"/>
          </a:xfrm>
          <a:prstGeom prst="arc">
            <a:avLst/>
          </a:prstGeom>
          <a:noFill/>
          <a:ln w="2159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Pentagon 110"/>
          <p:cNvSpPr/>
          <p:nvPr/>
        </p:nvSpPr>
        <p:spPr>
          <a:xfrm rot="10800000">
            <a:off x="7335316" y="3408883"/>
            <a:ext cx="160934" cy="182880"/>
          </a:xfrm>
          <a:prstGeom prst="homePlate">
            <a:avLst/>
          </a:prstGeom>
          <a:solidFill>
            <a:srgbClr val="EBF6FF"/>
          </a:solidFill>
          <a:ln w="1778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793992" y="3730752"/>
            <a:ext cx="9509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846"/>
                </a:solidFill>
                <a:latin typeface="Aptos"/>
              </a:rPr>
              <a:t>IAM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8092440" y="3451860"/>
            <a:ext cx="457200" cy="0"/>
          </a:xfrm>
          <a:prstGeom prst="line">
            <a:avLst/>
          </a:prstGeom>
          <a:ln w="16510">
            <a:solidFill>
              <a:srgbClr val="1E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Isosceles Triangle 113"/>
          <p:cNvSpPr/>
          <p:nvPr/>
        </p:nvSpPr>
        <p:spPr>
          <a:xfrm rot="5400000">
            <a:off x="8485632" y="3401568"/>
            <a:ext cx="109728" cy="100584"/>
          </a:xfrm>
          <a:prstGeom prst="triangle">
            <a:avLst/>
          </a:prstGeom>
          <a:solidFill>
            <a:srgbClr val="1E232A"/>
          </a:solidFill>
          <a:ln>
            <a:solidFill>
              <a:srgbClr val="1E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8796528" y="3090672"/>
            <a:ext cx="438912" cy="530352"/>
          </a:xfrm>
          <a:prstGeom prst="roundRect">
            <a:avLst/>
          </a:prstGeom>
          <a:noFill/>
          <a:ln w="2032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8897111" y="3227832"/>
            <a:ext cx="54865" cy="36576"/>
          </a:xfrm>
          <a:prstGeom prst="line">
            <a:avLst/>
          </a:prstGeom>
          <a:ln w="1397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8951976" y="3191256"/>
            <a:ext cx="54864" cy="73152"/>
          </a:xfrm>
          <a:prstGeom prst="line">
            <a:avLst/>
          </a:prstGeom>
          <a:ln w="1397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9043415" y="3227832"/>
            <a:ext cx="109729" cy="0"/>
          </a:xfrm>
          <a:prstGeom prst="line">
            <a:avLst/>
          </a:prstGeom>
          <a:ln w="1397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8897111" y="3355848"/>
            <a:ext cx="54865" cy="36576"/>
          </a:xfrm>
          <a:prstGeom prst="line">
            <a:avLst/>
          </a:prstGeom>
          <a:ln w="1397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8951976" y="3319272"/>
            <a:ext cx="54864" cy="73152"/>
          </a:xfrm>
          <a:prstGeom prst="line">
            <a:avLst/>
          </a:prstGeom>
          <a:ln w="1397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9043415" y="3355848"/>
            <a:ext cx="109729" cy="0"/>
          </a:xfrm>
          <a:prstGeom prst="line">
            <a:avLst/>
          </a:prstGeom>
          <a:ln w="1397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8897111" y="3483863"/>
            <a:ext cx="54865" cy="36576"/>
          </a:xfrm>
          <a:prstGeom prst="line">
            <a:avLst/>
          </a:prstGeom>
          <a:ln w="1397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8951976" y="3447287"/>
            <a:ext cx="54864" cy="73152"/>
          </a:xfrm>
          <a:prstGeom prst="line">
            <a:avLst/>
          </a:prstGeom>
          <a:ln w="1397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9043415" y="3483863"/>
            <a:ext cx="109729" cy="0"/>
          </a:xfrm>
          <a:prstGeom prst="line">
            <a:avLst/>
          </a:prstGeom>
          <a:ln w="1397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326880" y="3072384"/>
            <a:ext cx="2057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846"/>
                </a:solidFill>
                <a:latin typeface="Aptos"/>
              </a:rPr>
              <a:t>Document Checklist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326880" y="3401568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42846"/>
                </a:solidFill>
                <a:latin typeface="Aptos"/>
              </a:rPr>
              <a:t>20 Doc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600200" y="4251960"/>
            <a:ext cx="6492240" cy="1417320"/>
          </a:xfrm>
          <a:prstGeom prst="roundRect">
            <a:avLst/>
          </a:prstGeom>
          <a:solidFill>
            <a:srgbClr val="DEEFFD"/>
          </a:solidFill>
          <a:ln>
            <a:solidFill>
              <a:srgbClr val="DE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783080" y="4325112"/>
            <a:ext cx="914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42846"/>
                </a:solidFill>
                <a:latin typeface="Aptos"/>
              </a:rPr>
              <a:t>GCP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390241" y="4785969"/>
            <a:ext cx="248716" cy="248716"/>
          </a:xfrm>
          <a:prstGeom prst="rect">
            <a:avLst/>
          </a:prstGeom>
          <a:noFill/>
          <a:ln w="2159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0" name="Connector 129"/>
          <p:cNvCxnSpPr/>
          <p:nvPr/>
        </p:nvCxnSpPr>
        <p:spPr>
          <a:xfrm>
            <a:off x="2331720" y="4829860"/>
            <a:ext cx="58521" cy="0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638958" y="4829860"/>
            <a:ext cx="58522" cy="0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434132" y="4727448"/>
            <a:ext cx="0" cy="58521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434132" y="5034686"/>
            <a:ext cx="0" cy="58522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331720" y="4910328"/>
            <a:ext cx="58521" cy="0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638958" y="4910328"/>
            <a:ext cx="58522" cy="0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2514600" y="4727448"/>
            <a:ext cx="0" cy="58521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514600" y="5034686"/>
            <a:ext cx="0" cy="58522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331720" y="4990795"/>
            <a:ext cx="58521" cy="0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638958" y="4990795"/>
            <a:ext cx="58522" cy="0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595067" y="4727448"/>
            <a:ext cx="0" cy="58521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595067" y="5034686"/>
            <a:ext cx="0" cy="58522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2039112" y="5239512"/>
            <a:ext cx="9509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846"/>
                </a:solidFill>
                <a:latin typeface="Aptos"/>
              </a:rPr>
              <a:t>Compute</a:t>
            </a:r>
          </a:p>
        </p:txBody>
      </p:sp>
      <p:sp>
        <p:nvSpPr>
          <p:cNvPr id="143" name="Oval 142"/>
          <p:cNvSpPr/>
          <p:nvPr/>
        </p:nvSpPr>
        <p:spPr>
          <a:xfrm>
            <a:off x="3542385" y="4778654"/>
            <a:ext cx="321868" cy="117043"/>
          </a:xfrm>
          <a:prstGeom prst="ellipse">
            <a:avLst/>
          </a:prstGeom>
          <a:noFill/>
          <a:ln w="2159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4" name="Connector 143"/>
          <p:cNvCxnSpPr/>
          <p:nvPr/>
        </p:nvCxnSpPr>
        <p:spPr>
          <a:xfrm>
            <a:off x="3542385" y="4837176"/>
            <a:ext cx="29261" cy="219456"/>
          </a:xfrm>
          <a:prstGeom prst="line">
            <a:avLst/>
          </a:prstGeom>
          <a:ln w="1905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H="1">
            <a:off x="3834993" y="4837176"/>
            <a:ext cx="29261" cy="219456"/>
          </a:xfrm>
          <a:prstGeom prst="line">
            <a:avLst/>
          </a:prstGeom>
          <a:ln w="1905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Arc 145"/>
          <p:cNvSpPr/>
          <p:nvPr/>
        </p:nvSpPr>
        <p:spPr>
          <a:xfrm>
            <a:off x="3557015" y="4968849"/>
            <a:ext cx="292608" cy="160934"/>
          </a:xfrm>
          <a:prstGeom prst="arc">
            <a:avLst/>
          </a:prstGeom>
          <a:noFill/>
          <a:ln w="2159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227832" y="5239512"/>
            <a:ext cx="9509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846"/>
                </a:solidFill>
                <a:latin typeface="Aptos"/>
              </a:rPr>
              <a:t>Storage</a:t>
            </a:r>
          </a:p>
        </p:txBody>
      </p:sp>
      <p:sp>
        <p:nvSpPr>
          <p:cNvPr id="148" name="Oval 147"/>
          <p:cNvSpPr/>
          <p:nvPr/>
        </p:nvSpPr>
        <p:spPr>
          <a:xfrm>
            <a:off x="4745736" y="4764024"/>
            <a:ext cx="292608" cy="102412"/>
          </a:xfrm>
          <a:prstGeom prst="ellipse">
            <a:avLst/>
          </a:prstGeom>
          <a:solidFill>
            <a:srgbClr val="EBF6FF"/>
          </a:solidFill>
          <a:ln w="1905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745736" y="4859121"/>
            <a:ext cx="292608" cy="102412"/>
          </a:xfrm>
          <a:prstGeom prst="ellipse">
            <a:avLst/>
          </a:prstGeom>
          <a:solidFill>
            <a:srgbClr val="EBF6FF"/>
          </a:solidFill>
          <a:ln w="1905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4745736" y="4954219"/>
            <a:ext cx="292608" cy="102412"/>
          </a:xfrm>
          <a:prstGeom prst="ellipse">
            <a:avLst/>
          </a:prstGeom>
          <a:solidFill>
            <a:srgbClr val="EBF6FF"/>
          </a:solidFill>
          <a:ln w="1905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1" name="Connector 150"/>
          <p:cNvCxnSpPr/>
          <p:nvPr/>
        </p:nvCxnSpPr>
        <p:spPr>
          <a:xfrm>
            <a:off x="4745736" y="4866436"/>
            <a:ext cx="0" cy="175565"/>
          </a:xfrm>
          <a:prstGeom prst="line">
            <a:avLst/>
          </a:prstGeom>
          <a:ln w="1905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5038344" y="4866436"/>
            <a:ext cx="0" cy="175565"/>
          </a:xfrm>
          <a:prstGeom prst="line">
            <a:avLst/>
          </a:prstGeom>
          <a:ln w="1905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4416552" y="5239512"/>
            <a:ext cx="9509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846"/>
                </a:solidFill>
                <a:latin typeface="Aptos"/>
              </a:rPr>
              <a:t>Database</a:t>
            </a:r>
          </a:p>
        </p:txBody>
      </p:sp>
      <p:sp>
        <p:nvSpPr>
          <p:cNvPr id="154" name="Cloud 153"/>
          <p:cNvSpPr/>
          <p:nvPr/>
        </p:nvSpPr>
        <p:spPr>
          <a:xfrm>
            <a:off x="5890564" y="4764024"/>
            <a:ext cx="380390" cy="234086"/>
          </a:xfrm>
          <a:prstGeom prst="cloud">
            <a:avLst/>
          </a:prstGeom>
          <a:noFill/>
          <a:ln w="2159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5" name="Connector 154"/>
          <p:cNvCxnSpPr/>
          <p:nvPr/>
        </p:nvCxnSpPr>
        <p:spPr>
          <a:xfrm>
            <a:off x="6080760" y="4998110"/>
            <a:ext cx="0" cy="80467"/>
          </a:xfrm>
          <a:prstGeom prst="line">
            <a:avLst/>
          </a:prstGeom>
          <a:ln w="1778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H="1">
            <a:off x="5956401" y="5049316"/>
            <a:ext cx="124359" cy="43892"/>
          </a:xfrm>
          <a:prstGeom prst="line">
            <a:avLst/>
          </a:prstGeom>
          <a:ln w="1524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Oval 156"/>
          <p:cNvSpPr/>
          <p:nvPr/>
        </p:nvSpPr>
        <p:spPr>
          <a:xfrm>
            <a:off x="5930798" y="5071262"/>
            <a:ext cx="51206" cy="5120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8" name="Connector 157"/>
          <p:cNvCxnSpPr/>
          <p:nvPr/>
        </p:nvCxnSpPr>
        <p:spPr>
          <a:xfrm>
            <a:off x="6080760" y="5049316"/>
            <a:ext cx="0" cy="43892"/>
          </a:xfrm>
          <a:prstGeom prst="line">
            <a:avLst/>
          </a:prstGeom>
          <a:ln w="1524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Oval 158"/>
          <p:cNvSpPr/>
          <p:nvPr/>
        </p:nvSpPr>
        <p:spPr>
          <a:xfrm>
            <a:off x="6055156" y="5071262"/>
            <a:ext cx="51206" cy="5120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0" name="Connector 159"/>
          <p:cNvCxnSpPr/>
          <p:nvPr/>
        </p:nvCxnSpPr>
        <p:spPr>
          <a:xfrm>
            <a:off x="6080760" y="5049316"/>
            <a:ext cx="124358" cy="43892"/>
          </a:xfrm>
          <a:prstGeom prst="line">
            <a:avLst/>
          </a:prstGeom>
          <a:ln w="1524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Oval 160"/>
          <p:cNvSpPr/>
          <p:nvPr/>
        </p:nvSpPr>
        <p:spPr>
          <a:xfrm>
            <a:off x="6179515" y="5071262"/>
            <a:ext cx="51206" cy="5120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605272" y="5239512"/>
            <a:ext cx="9509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846"/>
                </a:solidFill>
                <a:latin typeface="Aptos"/>
              </a:rPr>
              <a:t>Network</a:t>
            </a:r>
          </a:p>
        </p:txBody>
      </p:sp>
      <p:sp>
        <p:nvSpPr>
          <p:cNvPr id="163" name="Oval 162"/>
          <p:cNvSpPr/>
          <p:nvPr/>
        </p:nvSpPr>
        <p:spPr>
          <a:xfrm>
            <a:off x="7196328" y="4764024"/>
            <a:ext cx="146304" cy="146304"/>
          </a:xfrm>
          <a:prstGeom prst="ellipse">
            <a:avLst/>
          </a:prstGeom>
          <a:noFill/>
          <a:ln w="2159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Arc 163"/>
          <p:cNvSpPr/>
          <p:nvPr/>
        </p:nvSpPr>
        <p:spPr>
          <a:xfrm>
            <a:off x="7123176" y="4895697"/>
            <a:ext cx="292608" cy="219456"/>
          </a:xfrm>
          <a:prstGeom prst="arc">
            <a:avLst/>
          </a:prstGeom>
          <a:noFill/>
          <a:ln w="2159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Pentagon 164"/>
          <p:cNvSpPr/>
          <p:nvPr/>
        </p:nvSpPr>
        <p:spPr>
          <a:xfrm rot="10800000">
            <a:off x="7335316" y="4917643"/>
            <a:ext cx="160934" cy="182880"/>
          </a:xfrm>
          <a:prstGeom prst="homePlate">
            <a:avLst/>
          </a:prstGeom>
          <a:solidFill>
            <a:srgbClr val="EBF6FF"/>
          </a:solidFill>
          <a:ln w="1778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793992" y="5239512"/>
            <a:ext cx="9509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846"/>
                </a:solidFill>
                <a:latin typeface="Aptos"/>
              </a:rPr>
              <a:t>IAM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8092440" y="4960620"/>
            <a:ext cx="457200" cy="0"/>
          </a:xfrm>
          <a:prstGeom prst="line">
            <a:avLst/>
          </a:prstGeom>
          <a:ln w="16510">
            <a:solidFill>
              <a:srgbClr val="1E2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Isosceles Triangle 167"/>
          <p:cNvSpPr/>
          <p:nvPr/>
        </p:nvSpPr>
        <p:spPr>
          <a:xfrm rot="5400000">
            <a:off x="8485632" y="4910328"/>
            <a:ext cx="109728" cy="100584"/>
          </a:xfrm>
          <a:prstGeom prst="triangle">
            <a:avLst/>
          </a:prstGeom>
          <a:solidFill>
            <a:srgbClr val="1E232A"/>
          </a:solidFill>
          <a:ln>
            <a:solidFill>
              <a:srgbClr val="1E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8796528" y="4599432"/>
            <a:ext cx="438912" cy="530352"/>
          </a:xfrm>
          <a:prstGeom prst="roundRect">
            <a:avLst/>
          </a:prstGeom>
          <a:noFill/>
          <a:ln w="20320">
            <a:solidFill>
              <a:srgbClr val="1E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0" name="Connector 169"/>
          <p:cNvCxnSpPr/>
          <p:nvPr/>
        </p:nvCxnSpPr>
        <p:spPr>
          <a:xfrm>
            <a:off x="8897111" y="4736592"/>
            <a:ext cx="54865" cy="36576"/>
          </a:xfrm>
          <a:prstGeom prst="line">
            <a:avLst/>
          </a:prstGeom>
          <a:ln w="1397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8951976" y="4700016"/>
            <a:ext cx="54864" cy="73152"/>
          </a:xfrm>
          <a:prstGeom prst="line">
            <a:avLst/>
          </a:prstGeom>
          <a:ln w="1397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9043415" y="4736592"/>
            <a:ext cx="109729" cy="0"/>
          </a:xfrm>
          <a:prstGeom prst="line">
            <a:avLst/>
          </a:prstGeom>
          <a:ln w="1397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8897111" y="4864608"/>
            <a:ext cx="54865" cy="36576"/>
          </a:xfrm>
          <a:prstGeom prst="line">
            <a:avLst/>
          </a:prstGeom>
          <a:ln w="1397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8951976" y="4828032"/>
            <a:ext cx="54864" cy="73152"/>
          </a:xfrm>
          <a:prstGeom prst="line">
            <a:avLst/>
          </a:prstGeom>
          <a:ln w="1397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9043415" y="4864608"/>
            <a:ext cx="109729" cy="0"/>
          </a:xfrm>
          <a:prstGeom prst="line">
            <a:avLst/>
          </a:prstGeom>
          <a:ln w="1397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8897111" y="4992624"/>
            <a:ext cx="54865" cy="36576"/>
          </a:xfrm>
          <a:prstGeom prst="line">
            <a:avLst/>
          </a:prstGeom>
          <a:ln w="1397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8951976" y="4956048"/>
            <a:ext cx="54864" cy="73152"/>
          </a:xfrm>
          <a:prstGeom prst="line">
            <a:avLst/>
          </a:prstGeom>
          <a:ln w="1397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9043415" y="4992624"/>
            <a:ext cx="109729" cy="0"/>
          </a:xfrm>
          <a:prstGeom prst="line">
            <a:avLst/>
          </a:prstGeom>
          <a:ln w="13970">
            <a:solidFill>
              <a:srgbClr val="1E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9326880" y="4581144"/>
            <a:ext cx="2057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42846"/>
                </a:solidFill>
                <a:latin typeface="Aptos"/>
              </a:rPr>
              <a:t>Document Checklist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326880" y="4910328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42846"/>
                </a:solidFill>
                <a:latin typeface="Aptos"/>
              </a:rPr>
              <a:t>5 Doc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561320" y="3136392"/>
            <a:ext cx="1417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44173"/>
                </a:solidFill>
                <a:latin typeface="Aptos"/>
              </a:rPr>
              <a:t>Total = 41 Doc</a:t>
            </a:r>
          </a:p>
        </p:txBody>
      </p:sp>
      <p:cxnSp>
        <p:nvCxnSpPr>
          <p:cNvPr id="182" name="Connector 181"/>
          <p:cNvCxnSpPr/>
          <p:nvPr/>
        </p:nvCxnSpPr>
        <p:spPr>
          <a:xfrm>
            <a:off x="411480" y="6144768"/>
            <a:ext cx="11384280" cy="0"/>
          </a:xfrm>
          <a:prstGeom prst="line">
            <a:avLst/>
          </a:prstGeom>
          <a:ln w="12700">
            <a:solidFill>
              <a:srgbClr val="DEEF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502920" y="6236208"/>
            <a:ext cx="11155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47382"/>
                </a:solidFill>
                <a:latin typeface="Aptos"/>
              </a:rPr>
              <a:t>Domains: Compute  •  Storage  •  Database  •  Network  •  IAM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
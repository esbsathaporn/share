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4983480" cy="566928"/>
          </a:xfrm>
          <a:prstGeom prst="rect">
            <a:avLst/>
          </a:prstGeom>
          <a:solidFill>
            <a:srgbClr val="E71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44805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6. Implement</a:t>
            </a:r>
          </a:p>
        </p:txBody>
      </p:sp>
      <p:pic>
        <p:nvPicPr>
          <p:cNvPr id="4" name="Picture 3" descr="network_the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27432"/>
            <a:ext cx="2834640" cy="5760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46120" y="832104"/>
            <a:ext cx="5532120" cy="475488"/>
          </a:xfrm>
          <a:prstGeom prst="round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859536"/>
            <a:ext cx="525780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Aptos"/>
              </a:rPr>
              <a:t>Control for Network —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4389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Aptos"/>
              </a:rPr>
              <a:t>Network Configuration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4572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4C7EA8"/>
                </a:solidFill>
                <a:latin typeface="Aptos"/>
              </a:rPr>
              <a:t>8 Control Families  •  70 Control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578608" cy="1600200"/>
          </a:xfrm>
          <a:prstGeom prst="roundRect">
            <a:avLst/>
          </a:prstGeom>
          <a:solidFill>
            <a:srgbClr val="F9D6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395728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Aptos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80720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C7EA8"/>
                </a:solidFill>
                <a:latin typeface="Aptos"/>
              </a:rPr>
              <a:t>AC •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099816"/>
            <a:ext cx="2240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Aptos"/>
              </a:rPr>
              <a:t>Users, devices,
privileges &amp;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240280"/>
            <a:ext cx="2578608" cy="1600200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395728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Aptos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80720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C7EA8"/>
                </a:solidFill>
                <a:latin typeface="Aptos"/>
              </a:rPr>
              <a:t>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099816"/>
            <a:ext cx="2240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Aptos"/>
              </a:rPr>
              <a:t>Baseline, hardening
&amp; change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40280"/>
            <a:ext cx="2578608" cy="1600200"/>
          </a:xfrm>
          <a:prstGeom prst="roundRect">
            <a:avLst/>
          </a:prstGeom>
          <a:solidFill>
            <a:srgbClr val="F9D6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395728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Aptos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80720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C7EA8"/>
                </a:solidFill>
                <a:latin typeface="Aptos"/>
              </a:rPr>
              <a:t>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099816"/>
            <a:ext cx="2240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Aptos"/>
              </a:rPr>
              <a:t>Protocols, encryption,
segmentation &amp; secure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240280"/>
            <a:ext cx="2578608" cy="1600200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395728"/>
            <a:ext cx="2148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Aptos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80720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C7EA8"/>
                </a:solidFill>
                <a:latin typeface="Aptos"/>
              </a:rPr>
              <a:t>AU • CA • RA • 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099816"/>
            <a:ext cx="2240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Aptos"/>
              </a:rPr>
              <a:t>Logs, assessment, risk
&amp; integrity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51960"/>
            <a:ext cx="36576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Aptos"/>
              </a:rPr>
              <a:t>Control ID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63440"/>
            <a:ext cx="2578608" cy="521207"/>
          </a:xfrm>
          <a:prstGeom prst="round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09159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700016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39" y="4690872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" y="4992624"/>
            <a:ext cx="1099566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37560" y="4663440"/>
            <a:ext cx="2578608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709159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4488" y="4700016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Audit and Accountability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690872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04488" y="4992624"/>
            <a:ext cx="761238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4663440"/>
            <a:ext cx="2578608" cy="521207"/>
          </a:xfrm>
          <a:prstGeom prst="round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709159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4700016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Assessment, Authorization, and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690872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39128" y="4992624"/>
            <a:ext cx="253745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06840" y="4663440"/>
            <a:ext cx="2578608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4709159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4700016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Configuration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4690872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73768" y="4992624"/>
            <a:ext cx="930402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2920" y="5321807"/>
            <a:ext cx="2578608" cy="521207"/>
          </a:xfrm>
          <a:prstGeom prst="round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367527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" y="5358383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Identification and Authentication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39" y="5349240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9848" y="5650992"/>
            <a:ext cx="592074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337560" y="5321807"/>
            <a:ext cx="2578608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5367527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4488" y="5358383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Risk Assessment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5349240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4488" y="5650992"/>
            <a:ext cx="169164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72200" y="5321807"/>
            <a:ext cx="2578608" cy="521207"/>
          </a:xfrm>
          <a:prstGeom prst="round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5367527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SC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39128" y="5358383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System and Communications Protection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349240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16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39128" y="5650992"/>
            <a:ext cx="1353312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006840" y="5321807"/>
            <a:ext cx="2578608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5367527"/>
            <a:ext cx="39319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C7EA8"/>
                </a:solidFill>
                <a:latin typeface="Aptos"/>
              </a:rPr>
              <a:t>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8" y="5358383"/>
            <a:ext cx="14173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Aptos"/>
              </a:rPr>
              <a:t>System and Information Integrity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5349240"/>
            <a:ext cx="29260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4C7EA8"/>
                </a:solidFill>
                <a:latin typeface="Aptos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73768" y="5650992"/>
            <a:ext cx="761238" cy="64008"/>
          </a:xfrm>
          <a:prstGeom prst="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565392"/>
            <a:ext cx="11247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4C7EA8"/>
                </a:solidFill>
                <a:latin typeface="Aptos"/>
              </a:rPr>
              <a:t>Control for Network  |  NIST SP 800-53 v5.x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4983480" cy="566928"/>
          </a:xfrm>
          <a:prstGeom prst="rect">
            <a:avLst/>
          </a:prstGeom>
          <a:solidFill>
            <a:srgbClr val="E71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44805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6. Implement</a:t>
            </a:r>
          </a:p>
        </p:txBody>
      </p:sp>
      <p:pic>
        <p:nvPicPr>
          <p:cNvPr id="4" name="Picture 3" descr="network_the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27432"/>
            <a:ext cx="2834640" cy="5760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46120" y="832104"/>
            <a:ext cx="5532120" cy="475488"/>
          </a:xfrm>
          <a:prstGeom prst="round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859536"/>
            <a:ext cx="525780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Aptos"/>
              </a:rPr>
              <a:t>Control for Network — Control IDs by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7315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Aptos"/>
              </a:rPr>
              <a:t>Each box shows the family, total IDs, and the actual Control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82496"/>
            <a:ext cx="5486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C7EA8"/>
                </a:solidFill>
                <a:latin typeface="Aptos"/>
              </a:rPr>
              <a:t>Base Control = normal ID   •   Enhancement = ID with (xx)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029968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30552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112264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112264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13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AC-02  AC-06  AC-07  AC-17  AC-18(01)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87168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AC-03  AC-06(03)  AC-08  AC-17(02)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87168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AC-04  AC-06(09)  AC-12  AC-18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3" y="2029968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130552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3" y="2112264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Audit and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2112264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9 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487168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AU-02  AU-04  AU-06  AU-09  AU-12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87168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AU-03  AU-05  AU-08  AU-11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3108960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9544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27832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91256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Assessment, Authorization, and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1" y="3191256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3 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66160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CA-03  CA-09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566160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CA-07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3" y="3108960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3209544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227832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3" y="3191256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Configuration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0504" y="3191256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11 IDs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566160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CM-02  CM-03  CM-06  CM-06(02)  CM-08  CM-14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3566160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CM-02(03)  CM-05  CM-06(01)  CM-07  CM-08(03)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4187952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4288536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306824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" y="4270248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Identification and Authentication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1" y="4270248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7 IDs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45152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IA-02  IA-03  IA-05(02)  IA-08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4645152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IA-02(01)  IA-05  IA-05(07)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2783" y="4187952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82512" y="4288536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4306824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3" y="4270248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Risk Assessment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90504" y="4270248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2 IDs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645152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RA-05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5592" y="4645152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RA-05(05)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" y="5266944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5367528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85816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0432" y="5349240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System and Communications Protection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6631" y="5349240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16 IDs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724144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SC-02  SC-07(05)  SC-07(10)  SC-07(21)  SC-13  SC-40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5724144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SC-05  SC-07(07)  SC-07(13)  SC-08  SC-17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724144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SC-07  SC-07(09)  SC-07(18)  SC-12  SC-20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2783" y="5266944"/>
            <a:ext cx="55321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82512" y="5367528"/>
            <a:ext cx="502920" cy="329184"/>
          </a:xfrm>
          <a:prstGeom prst="roundRect">
            <a:avLst/>
          </a:prstGeom>
          <a:solidFill>
            <a:srgbClr val="4C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5385816"/>
            <a:ext cx="502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04303" y="5349240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40" b="1">
                <a:solidFill>
                  <a:srgbClr val="262626"/>
                </a:solidFill>
                <a:latin typeface="Aptos"/>
              </a:rPr>
              <a:t>System and Information Integrity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90504" y="5349240"/>
            <a:ext cx="7132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4C7EA8"/>
                </a:solidFill>
                <a:latin typeface="Aptos"/>
              </a:rPr>
              <a:t>9 IDs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82512" y="5724144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SI-02  SI-04  SI-04(14)  SI-07  SI-08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65592" y="5724144"/>
            <a:ext cx="1664208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SI-03  SI-04(04)  SI-04(22)  SI-07(09)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565392"/>
            <a:ext cx="11247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4C7EA8"/>
                </a:solidFill>
                <a:latin typeface="Aptos"/>
              </a:rPr>
              <a:t>Control for Network  |  NIST SP 800-53 v5.x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
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4892040" cy="566928"/>
          </a:xfrm>
          <a:prstGeom prst="rect">
            <a:avLst/>
          </a:prstGeom>
          <a:solidFill>
            <a:srgbClr val="E71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44805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6. Implement</a:t>
            </a:r>
          </a:p>
        </p:txBody>
      </p:sp>
      <p:pic>
        <p:nvPicPr>
          <p:cNvPr id="4" name="Picture 3" descr="theme_logo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36576"/>
            <a:ext cx="2697480" cy="6949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01568" y="841248"/>
            <a:ext cx="5440680" cy="475488"/>
          </a:xfrm>
          <a:prstGeom prst="round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93008" y="859536"/>
            <a:ext cx="525780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Aptos"/>
              </a:rPr>
              <a:t>Control for Cloud —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4114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262626"/>
                </a:solidFill>
                <a:latin typeface="Aptos"/>
              </a:rPr>
              <a:t>Cloud Configuration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92224"/>
            <a:ext cx="4572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>
                <a:solidFill>
                  <a:srgbClr val="5C87AE"/>
                </a:solidFill>
                <a:latin typeface="Aptos"/>
              </a:rPr>
              <a:t>11 Control Families  •  126 Control IDs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31720"/>
            <a:ext cx="3429000" cy="14813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487168"/>
            <a:ext cx="309067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5C87AE"/>
                </a:solidFill>
                <a:latin typeface="Aptos"/>
              </a:rPr>
              <a:t>ACCESS &amp;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834640"/>
            <a:ext cx="30906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Aptos"/>
              </a:rPr>
              <a:t>AC • 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27248"/>
            <a:ext cx="309067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Aptos"/>
              </a:rPr>
              <a:t>Who can access the cloud,
and how access is controlled.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331720"/>
            <a:ext cx="3429000" cy="14813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2487168"/>
            <a:ext cx="309067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5C87AE"/>
                </a:solidFill>
                <a:latin typeface="Aptos"/>
              </a:rPr>
              <a:t>PROTECTION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2834640"/>
            <a:ext cx="30906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Aptos"/>
              </a:rPr>
              <a:t>AU • CM • SC • 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3127248"/>
            <a:ext cx="309067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Aptos"/>
              </a:rPr>
              <a:t>How systems are configured,
protected, monitored and kept intact.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2331720"/>
            <a:ext cx="3429000" cy="14813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2487168"/>
            <a:ext cx="309067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1">
                <a:solidFill>
                  <a:srgbClr val="5C87AE"/>
                </a:solidFill>
                <a:latin typeface="Aptos"/>
              </a:rPr>
              <a:t>RESILIENCE &amp;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2834640"/>
            <a:ext cx="309067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262626"/>
                </a:solidFill>
                <a:latin typeface="Aptos"/>
              </a:rPr>
              <a:t>CA • CP • IR • RA • 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3127248"/>
            <a:ext cx="309067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Aptos"/>
              </a:rPr>
              <a:t>How the cloud is assessed,
recovered, responded to and acquired.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60520"/>
            <a:ext cx="3840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262626"/>
                </a:solidFill>
                <a:latin typeface="Aptos"/>
              </a:rPr>
              <a:t>How the 126 IDs are distributed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4617720"/>
            <a:ext cx="251460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8172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81728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4663440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28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965192"/>
            <a:ext cx="1325880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291840" y="4617720"/>
            <a:ext cx="2514600" cy="566928"/>
          </a:xfrm>
          <a:prstGeom prst="round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468172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58768" y="4681728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Audit and Accountability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58383" y="4663440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8" y="4965192"/>
            <a:ext cx="852351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053328" y="4617720"/>
            <a:ext cx="251460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63056" y="468172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681728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Assessment, Authorization, and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1" y="4663440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0256" y="4965192"/>
            <a:ext cx="94705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14816" y="4617720"/>
            <a:ext cx="2514600" cy="566928"/>
          </a:xfrm>
          <a:prstGeom prst="round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24544" y="4681728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CM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81744" y="4681728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Configuration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4663440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81744" y="4965192"/>
            <a:ext cx="473528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30352" y="5276088"/>
            <a:ext cx="251460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340096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CP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340096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Contingency Planning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96896" y="5321807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7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" y="5623559"/>
            <a:ext cx="331470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291840" y="5276088"/>
            <a:ext cx="2514600" cy="566928"/>
          </a:xfrm>
          <a:prstGeom prst="round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01568" y="5340096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58768" y="5340096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Identification and Authentication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58383" y="5321807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58768" y="5623559"/>
            <a:ext cx="236764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053328" y="5276088"/>
            <a:ext cx="251460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6" y="5340096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IR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0256" y="5340096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Incident Response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9871" y="5321807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20256" y="5623559"/>
            <a:ext cx="94705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814816" y="5276088"/>
            <a:ext cx="2514600" cy="566928"/>
          </a:xfrm>
          <a:prstGeom prst="round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24544" y="5340096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81744" y="5340096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Risk Assessment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881360" y="5321807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81744" y="5623559"/>
            <a:ext cx="47352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30352" y="5934456"/>
            <a:ext cx="251460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5998464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SA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7280" y="5998464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System and Services Acquisition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96896" y="5980176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97280" y="6281928"/>
            <a:ext cx="378822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3291840" y="5934456"/>
            <a:ext cx="2514600" cy="566928"/>
          </a:xfrm>
          <a:prstGeom prst="roundRect">
            <a:avLst/>
          </a:prstGeom>
          <a:solidFill>
            <a:srgbClr val="EEEEE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01568" y="5998464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SC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858768" y="5998464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System and Communications Protection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58383" y="5980176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58768" y="6281928"/>
            <a:ext cx="1183821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053328" y="5934456"/>
            <a:ext cx="2514600" cy="566928"/>
          </a:xfrm>
          <a:prstGeom prst="roundRect">
            <a:avLst/>
          </a:prstGeom>
          <a:solidFill>
            <a:srgbClr val="DEEBF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6" y="5998464"/>
            <a:ext cx="438912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5C87AE"/>
                </a:solidFill>
                <a:latin typeface="Aptos"/>
              </a:rPr>
              <a:t>SI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20256" y="5998464"/>
            <a:ext cx="1508760" cy="2103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262626"/>
                </a:solidFill>
                <a:latin typeface="Aptos"/>
              </a:rPr>
              <a:t>System and Information Integrity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19871" y="5980176"/>
            <a:ext cx="292608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500" b="1">
                <a:solidFill>
                  <a:srgbClr val="5C87AE"/>
                </a:solidFill>
                <a:latin typeface="Aptos"/>
              </a:rPr>
              <a:t>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620256" y="6281928"/>
            <a:ext cx="947057" cy="73152"/>
          </a:xfrm>
          <a:prstGeom prst="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6574536"/>
            <a:ext cx="112471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C87AE"/>
                </a:solidFill>
                <a:latin typeface="Aptos"/>
              </a:rPr>
              <a:t>Control for Cloud  |  NIST SP 800-53 v5.x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64592"/>
            <a:ext cx="4892040" cy="566928"/>
          </a:xfrm>
          <a:prstGeom prst="rect">
            <a:avLst/>
          </a:prstGeom>
          <a:solidFill>
            <a:srgbClr val="E71B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01168"/>
            <a:ext cx="448056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6. Implement</a:t>
            </a:r>
          </a:p>
        </p:txBody>
      </p:sp>
      <p:pic>
        <p:nvPicPr>
          <p:cNvPr id="4" name="Picture 3" descr="theme_logo_cr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36576"/>
            <a:ext cx="2697480" cy="69494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401568" y="841248"/>
            <a:ext cx="5440680" cy="475488"/>
          </a:xfrm>
          <a:prstGeom prst="round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93008" y="859536"/>
            <a:ext cx="525780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>
                <a:solidFill>
                  <a:srgbClr val="262626"/>
                </a:solidFill>
                <a:latin typeface="Aptos"/>
              </a:rPr>
              <a:t>Control for Cloud — Control IDs by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389888"/>
            <a:ext cx="36576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 b="1">
                <a:solidFill>
                  <a:srgbClr val="262626"/>
                </a:solidFill>
                <a:latin typeface="Aptos"/>
              </a:rPr>
              <a:t>Each box = one Control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682496"/>
            <a:ext cx="41148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C87AE"/>
                </a:solidFill>
                <a:latin typeface="Aptos"/>
              </a:rPr>
              <a:t>Blue = base control  •  Gray = enhancement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0574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28 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1488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262626"/>
                </a:solidFill>
                <a:latin typeface="Aptos"/>
              </a:rPr>
              <a:t>AC-02  AC-02(04)
AC-02(11)  AC-03(02)
AC-03(15)  AC-04(21)
AC-06(02)  AC-06(09)
AC-12  AC-21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262626"/>
                </a:solidFill>
                <a:latin typeface="Aptos"/>
              </a:rPr>
              <a:t>AC-02(01)  AC-02(05)
AC-02(12)  AC-03(07)
AC-04  AC-04(26)
AC-06(03)  AC-06(10)
AC-17(01)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2072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262626"/>
                </a:solidFill>
                <a:latin typeface="Aptos"/>
              </a:rPr>
              <a:t>AC-02(03)  AC-02(07)
AC-03  AC-03(13)
AC-04(01)  AC-06
AC-06(07)  AC-07
AC-17(02)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20574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74720" y="21488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1671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1488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18 IDs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41648" y="21488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Audit and Accountability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AU-02  AU-06(01)
AU-06(05)  AU-09(02)
AU-10  AU-12(02)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AU-03  AU-06(03)
AU-07(01)  AU-09(03)
AU-12  AU-14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3872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AU-04(01)  AU-06(04)
AU-09  AU-09(07)
AU-12(01)  AU-14(01)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0574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21488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671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1488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2 IDs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13448" y="21488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Assessment, Authorization, and 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CA-07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CA-09(01)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20574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18319" y="21488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19" y="21671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21488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10 IDs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85248" y="21488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Configuration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36607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CM-02  CM-03(06)
CM-06(01)  CM-08
CM-08(02)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39" y="25328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CM-03  CM-05(01)
CM-07  CM-08(01)
CM-08(03)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4290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35204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5387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35204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7 IDs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" y="35204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Contingency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CP-02(02)  CP-06
CP-06(02)  CP-10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91640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CP-02(06)  CP-06(01)
CP-09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34290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3474720" y="35204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35387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35204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5 IDs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41648" y="35204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Identification and Authentication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93008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IA-02(01)  IA-02(06)
IA-05(01)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IA-02(02)  IA-02(08)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55080" y="34290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46520" y="35204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5387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5204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2 IDs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13448" y="35204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Incident Response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64808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IR-04(01)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IR-04(05)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26880" y="34290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418319" y="35204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19" y="35387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201400" y="35204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1 IDs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85248" y="35204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Risk Assessment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36607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RA-03(04)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07039" y="3904487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/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11480" y="48006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02920" y="48920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49103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48920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8 IDs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9848" y="48920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System and Services Acquisition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208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SA-03  SA-08(19)
SA-08(22)  SA-15(05)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91640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20" b="0">
                <a:solidFill>
                  <a:srgbClr val="262626"/>
                </a:solidFill>
                <a:latin typeface="Aptos"/>
              </a:rPr>
              <a:t>SA-08(14)  SA-08(21)
SA-08(23)  SA-17(07)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383280" y="48006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474720" y="48920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74720" y="49103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257800" y="48920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25 IDs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1648" y="48920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System and Communications Protection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93008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262626"/>
                </a:solidFill>
                <a:latin typeface="Aptos"/>
              </a:rPr>
              <a:t>SC-05  SC-07
SC-07(05)  SC-07(16)
SC-08  SC-12
SC-12(06)  SC-23
SC-36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63440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262626"/>
                </a:solidFill>
                <a:latin typeface="Aptos"/>
              </a:rPr>
              <a:t>SC-05(02)  SC-07(03)
SC-07(09)  SC-07(20)
SC-08(01)  SC-12(02)
SC-13  SC-28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833872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20" b="0">
                <a:solidFill>
                  <a:srgbClr val="262626"/>
                </a:solidFill>
                <a:latin typeface="Aptos"/>
              </a:rPr>
              <a:t>SC-05(03)  SC-07(04)
SC-07(11)  SC-07(21)
SC-08(02)  SC-12(03)
SC-17  SC-28(01)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55080" y="4800600"/>
            <a:ext cx="2487168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D3DC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446520" y="4892040"/>
            <a:ext cx="475488" cy="347472"/>
          </a:xfrm>
          <a:prstGeom prst="roundRect">
            <a:avLst/>
          </a:prstGeom>
          <a:solidFill>
            <a:srgbClr val="5C87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46520" y="4910328"/>
            <a:ext cx="47548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4892040"/>
            <a:ext cx="438912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950" b="1">
                <a:solidFill>
                  <a:srgbClr val="5C87AE"/>
                </a:solidFill>
                <a:latin typeface="Aptos"/>
              </a:rPr>
              <a:t>20 IDs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13448" y="4892040"/>
            <a:ext cx="117043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0" b="1">
                <a:solidFill>
                  <a:srgbClr val="262626"/>
                </a:solidFill>
                <a:latin typeface="Aptos"/>
              </a:rPr>
              <a:t>System and Information Integrity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64808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SI-02  SI-04(01)
SI-04(05)  SI-04(18)
SI-04(25)  SI-07(07)
SI-13(05)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635240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SI-02(02)  SI-04(02)
SI-04(11)  SI-04(20)
SI-07(01)  SI-07(08)
SI-20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05672" y="5276088"/>
            <a:ext cx="1078992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680" b="0">
                <a:solidFill>
                  <a:srgbClr val="262626"/>
                </a:solidFill>
                <a:latin typeface="Aptos"/>
              </a:rPr>
              <a:t>SI-04  SI-04(04)
SI-04(12)  SI-04(22)
SI-07(06)  SI-12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6574536"/>
            <a:ext cx="112471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0">
                <a:solidFill>
                  <a:srgbClr val="5C87AE"/>
                </a:solidFill>
                <a:latin typeface="Aptos"/>
              </a:rPr>
              <a:t>Control for Cloud  |  NIST SP 800-53 v5.x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